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98" r:id="rId6"/>
    <p:sldId id="295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68" userDrawn="1">
          <p15:clr>
            <a:srgbClr val="A4A3A4"/>
          </p15:clr>
        </p15:guide>
        <p15:guide id="2" pos="3830" userDrawn="1">
          <p15:clr>
            <a:srgbClr val="A4A3A4"/>
          </p15:clr>
        </p15:guide>
        <p15:guide id="3" orient="horz" pos="3829" userDrawn="1">
          <p15:clr>
            <a:srgbClr val="A4A3A4"/>
          </p15:clr>
        </p15:guide>
        <p15:guide id="4" pos="2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300"/>
    <a:srgbClr val="ABCFD8"/>
    <a:srgbClr val="00BFFF"/>
    <a:srgbClr val="094D6A"/>
    <a:srgbClr val="0C2E42"/>
    <a:srgbClr val="9B5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77"/>
    <p:restoredTop sz="90816"/>
  </p:normalViewPr>
  <p:slideViewPr>
    <p:cSldViewPr snapToGrid="0" snapToObjects="1" showGuides="1">
      <p:cViewPr varScale="1">
        <p:scale>
          <a:sx n="79" d="100"/>
          <a:sy n="79" d="100"/>
        </p:scale>
        <p:origin x="-739" y="-67"/>
      </p:cViewPr>
      <p:guideLst>
        <p:guide orient="horz" pos="768"/>
        <p:guide pos="3830"/>
        <p:guide orient="horz" pos="3829"/>
        <p:guide pos="210"/>
      </p:guideLst>
    </p:cSldViewPr>
  </p:slid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各位领导，各位来宾，大家上午好。今天我们聚焦激光雷达，探讨它在AI时代的技术本质与产业演化。全球激光雷达市场正迎来爆发，预计到2030年将突破万亿人民币。中国乘用车搭载量在2025年将突破324万颗，测绘激光雷达的年复合增长率也高达25.6%。</a:t>
            </a:r>
            <a:r>
              <a:rPr dirty="0" err="1"/>
              <a:t>珞珈伊云正站在这个万亿市场的风口，我们将在接下来的报告中，为您深入剖析三大赛道，并分享我们五大核心观点</a:t>
            </a:r>
            <a:r>
              <a:rPr dirty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来，我们将通过六大议题，为大家全景洞察激光雷达的过去、现在和未来。我们将重新理解激光雷达，回顾其发展历史，深入剖析技术本质，并对比国内外产业格局。同时，我们还会探讨时空智能的蓝海应用，并展望万亿级的市场趋势。贯穿始终的，是我们对激光雷达作为空间数字化基础设施、精度壁垒、国产替代、时空智能蓝海和万亿市场的五大核心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好，我们进入第一个章节，重新理解激光雷达。我们将深入探讨，为什么激光雷达是空间数字化的基础设施。这不仅是技术层面的认知，更是我们理解整个产业发展逻辑的关键。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37" name="图片 36" descr="logo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266805" y="132715"/>
            <a:ext cx="820420" cy="767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2" Type="http://schemas.openxmlformats.org/officeDocument/2006/relationships/notesSlide" Target="../notesSlides/notesSlide2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pointcloud1.jpg"/>
          <p:cNvPicPr>
            <a:picLocks noChangeAspect="1"/>
          </p:cNvPicPr>
          <p:nvPr/>
        </p:nvPicPr>
        <p:blipFill>
          <a:blip r:embed="rId1">
            <a:lum bright="-6000"/>
          </a:blip>
          <a:srcRect l="22594" r="26842"/>
          <a:stretch>
            <a:fillRect/>
          </a:stretch>
        </p:blipFill>
        <p:spPr>
          <a:xfrm>
            <a:off x="7311390" y="0"/>
            <a:ext cx="4877435" cy="685736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731520"/>
            <a:ext cx="2926080" cy="36576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76478"/>
            <a:ext cx="27432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300"/>
                </a:solidFill>
                <a:latin typeface="微软雅黑" panose="020B0503020204020204" charset="-122"/>
              </a:rPr>
              <a:t>行业洞察报告 · 202</a:t>
            </a:r>
            <a:r>
              <a:rPr lang="en-US" sz="1100" b="1" i="0">
                <a:solidFill>
                  <a:srgbClr val="FFA300"/>
                </a:solidFill>
                <a:latin typeface="微软雅黑" panose="020B0503020204020204" charset="-122"/>
              </a:rPr>
              <a:t>6</a:t>
            </a:r>
            <a:endParaRPr lang="en-US" sz="1100" b="1" i="0">
              <a:solidFill>
                <a:srgbClr val="FFA30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7315200" cy="79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4600" b="1" i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</a:rPr>
              <a:t>从空</a:t>
            </a:r>
            <a:r>
              <a:rPr lang="zh-CN" altLang="en-US" sz="4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</a:rPr>
              <a:t>间</a:t>
            </a:r>
            <a:r>
              <a:rPr lang="zh-CN" altLang="en-US" sz="4600" b="1" i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</a:rPr>
              <a:t>感知到时空智能</a:t>
            </a:r>
            <a:endParaRPr lang="zh-CN" altLang="en-US" sz="4600" b="1" i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73152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1" i="0">
                <a:solidFill>
                  <a:srgbClr val="38BD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</a:rPr>
              <a:t>激光雷达的技术逻辑与产业路径</a:t>
            </a:r>
            <a:endParaRPr lang="zh-CN" altLang="en-US" sz="3600" b="1" i="0">
              <a:solidFill>
                <a:srgbClr val="38BDF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 flipV="1">
            <a:off x="685800" y="5130800"/>
            <a:ext cx="6626225" cy="76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1845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</a:rPr>
              <a:t>武汉珞珈伊云光电技术有限公司</a:t>
            </a:r>
            <a:endParaRPr sz="1300" b="0" i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573849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</a:rPr>
              <a:t>武汉大学技术成果转化企业</a:t>
            </a:r>
            <a:endParaRPr sz="1100" b="0" i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23" name="TextBox 19"/>
          <p:cNvSpPr txBox="1"/>
          <p:nvPr/>
        </p:nvSpPr>
        <p:spPr>
          <a:xfrm>
            <a:off x="685800" y="4723130"/>
            <a:ext cx="54406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0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汇报人：毛庆洲</a:t>
            </a:r>
            <a:endParaRPr lang="zh-CN" sz="1400" b="0" i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汉宁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" y="142240"/>
            <a:ext cx="1347470" cy="6737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软雅黑" panose="020B0503020204020204" charset="-122"/>
              </a:rPr>
              <a:t>目录 · Contents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微软雅黑" panose="020B0503020204020204" charset="-122"/>
              </a:rPr>
              <a:t>六大议题全景导览</a:t>
            </a:r>
            <a:endParaRPr sz="1400" b="0" i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457200" y="118872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457200" y="1188720"/>
            <a:ext cx="3657600" cy="4572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594360" y="1280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300"/>
                </a:solidFill>
                <a:latin typeface="微软雅黑" panose="020B0503020204020204" charset="-122"/>
              </a:rPr>
              <a:t>01</a:t>
            </a:r>
            <a:endParaRPr sz="2800" b="1" i="0">
              <a:solidFill>
                <a:srgbClr val="FFA30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594360" y="178308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</a:rPr>
              <a:t>研究背景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594360" y="2194560"/>
            <a:ext cx="3383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对现实世界进行三维数字化是各行业智能化发展的重大需求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4389120" y="118872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4389120" y="1188720"/>
            <a:ext cx="3657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4526280" y="1280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  <a:latin typeface="微软雅黑" panose="020B0503020204020204" charset="-122"/>
              </a:rPr>
              <a:t>02</a:t>
            </a:r>
            <a:endParaRPr sz="2800" b="1" i="0">
              <a:solidFill>
                <a:srgbClr val="38BDF8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4526280" y="178308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技术本质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4526280" y="2194560"/>
            <a:ext cx="3383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激光雷达是空间数字化的基础设施</a:t>
            </a:r>
            <a:r>
              <a:rPr lang="en-US"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,</a:t>
            </a:r>
            <a:r>
              <a:rPr lang="zh-CN"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，是</a:t>
            </a:r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精准三维感知不可替代的核心工具</a:t>
            </a:r>
            <a:endParaRPr lang="en-US" sz="1100" b="0">
              <a:solidFill>
                <a:srgbClr val="94A3B8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6" name="Rectangle 15"/>
          <p:cNvSpPr/>
          <p:nvPr>
            <p:custDataLst>
              <p:tags r:id="rId11"/>
            </p:custDataLst>
          </p:nvPr>
        </p:nvSpPr>
        <p:spPr>
          <a:xfrm>
            <a:off x="8321040" y="118872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2"/>
            </p:custDataLst>
          </p:nvPr>
        </p:nvSpPr>
        <p:spPr>
          <a:xfrm>
            <a:off x="8321040" y="1188720"/>
            <a:ext cx="36576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3"/>
            </p:custDataLst>
          </p:nvPr>
        </p:nvSpPr>
        <p:spPr>
          <a:xfrm>
            <a:off x="8458200" y="1280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微软雅黑" panose="020B0503020204020204" charset="-122"/>
              </a:rPr>
              <a:t>03</a:t>
            </a:r>
            <a:endParaRPr sz="2800" b="1" i="0">
              <a:solidFill>
                <a:srgbClr val="22C55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4"/>
            </p:custDataLst>
          </p:nvPr>
        </p:nvSpPr>
        <p:spPr>
          <a:xfrm>
            <a:off x="8458200" y="178308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产业格局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8458200" y="2194560"/>
            <a:ext cx="338328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国内外主要厂商全景对比 · 珞珈伊云的战略定位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16"/>
            </p:custDataLst>
          </p:nvPr>
        </p:nvSpPr>
        <p:spPr>
          <a:xfrm>
            <a:off x="457200" y="356616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7"/>
            </p:custDataLst>
          </p:nvPr>
        </p:nvSpPr>
        <p:spPr>
          <a:xfrm>
            <a:off x="457200" y="3566160"/>
            <a:ext cx="3657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8"/>
            </p:custDataLst>
          </p:nvPr>
        </p:nvSpPr>
        <p:spPr>
          <a:xfrm>
            <a:off x="594360" y="3657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855F7"/>
                </a:solidFill>
                <a:latin typeface="微软雅黑" panose="020B0503020204020204" charset="-122"/>
              </a:rPr>
              <a:t>04</a:t>
            </a:r>
            <a:endParaRPr sz="2800" b="1" i="0">
              <a:solidFill>
                <a:srgbClr val="A855F7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>
            <p:custDataLst>
              <p:tags r:id="rId19"/>
            </p:custDataLst>
          </p:nvPr>
        </p:nvSpPr>
        <p:spPr>
          <a:xfrm>
            <a:off x="4389120" y="356616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20"/>
            </p:custDataLst>
          </p:nvPr>
        </p:nvSpPr>
        <p:spPr>
          <a:xfrm>
            <a:off x="4389120" y="3566160"/>
            <a:ext cx="3657600" cy="45720"/>
          </a:xfrm>
          <a:prstGeom prst="rect">
            <a:avLst/>
          </a:prstGeom>
          <a:solidFill>
            <a:srgbClr val="F47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21"/>
            </p:custDataLst>
          </p:nvPr>
        </p:nvSpPr>
        <p:spPr>
          <a:xfrm>
            <a:off x="4526280" y="36576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7218"/>
                </a:solidFill>
                <a:latin typeface="微软雅黑" panose="020B0503020204020204" charset="-122"/>
              </a:rPr>
              <a:t>05</a:t>
            </a:r>
            <a:endParaRPr sz="2800" b="1" i="0">
              <a:solidFill>
                <a:srgbClr val="F47218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22"/>
            </p:custDataLst>
          </p:nvPr>
        </p:nvSpPr>
        <p:spPr>
          <a:xfrm>
            <a:off x="594360" y="416052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关键技术、产品与应用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3"/>
            </p:custDataLst>
          </p:nvPr>
        </p:nvSpPr>
        <p:spPr>
          <a:xfrm>
            <a:off x="594360" y="4572000"/>
            <a:ext cx="3383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珞珈伊云已形成高分辨率激光雷达技术框架，核心技术自主可控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>
            <p:custDataLst>
              <p:tags r:id="rId24"/>
            </p:custDataLst>
          </p:nvPr>
        </p:nvSpPr>
        <p:spPr>
          <a:xfrm>
            <a:off x="8321040" y="3566160"/>
            <a:ext cx="3657600" cy="210312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26"/>
          <p:cNvSpPr/>
          <p:nvPr>
            <p:custDataLst>
              <p:tags r:id="rId25"/>
            </p:custDataLst>
          </p:nvPr>
        </p:nvSpPr>
        <p:spPr>
          <a:xfrm>
            <a:off x="8321040" y="3566160"/>
            <a:ext cx="3657600" cy="45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27"/>
          <p:cNvSpPr txBox="1"/>
          <p:nvPr>
            <p:custDataLst>
              <p:tags r:id="rId26"/>
            </p:custDataLst>
          </p:nvPr>
        </p:nvSpPr>
        <p:spPr>
          <a:xfrm>
            <a:off x="8458200" y="3657600"/>
            <a:ext cx="6400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0000"/>
                </a:solidFill>
                <a:latin typeface="微软雅黑" panose="020B0503020204020204" charset="-122"/>
              </a:rPr>
              <a:t>0</a:t>
            </a:r>
            <a:r>
              <a:rPr lang="en-US" sz="2800" b="1" i="0">
                <a:solidFill>
                  <a:srgbClr val="FF0000"/>
                </a:solidFill>
                <a:latin typeface="微软雅黑" panose="020B0503020204020204" charset="-122"/>
              </a:rPr>
              <a:t>6</a:t>
            </a:r>
            <a:endParaRPr lang="en-US" sz="2800" b="1" i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41" name="TextBox 28"/>
          <p:cNvSpPr txBox="1"/>
          <p:nvPr>
            <p:custDataLst>
              <p:tags r:id="rId27"/>
            </p:custDataLst>
          </p:nvPr>
        </p:nvSpPr>
        <p:spPr>
          <a:xfrm>
            <a:off x="8458200" y="416052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趋势展望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29"/>
          <p:cNvSpPr txBox="1"/>
          <p:nvPr>
            <p:custDataLst>
              <p:tags r:id="rId28"/>
            </p:custDataLst>
          </p:nvPr>
        </p:nvSpPr>
        <p:spPr>
          <a:xfrm>
            <a:off x="8458200" y="4572000"/>
            <a:ext cx="3383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低空经济、国防应用、具身智能等多场景融合驱动万亿级市场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  <p:sp>
        <p:nvSpPr>
          <p:cNvPr id="43" name="TextBox 23"/>
          <p:cNvSpPr txBox="1"/>
          <p:nvPr>
            <p:custDataLst>
              <p:tags r:id="rId29"/>
            </p:custDataLst>
          </p:nvPr>
        </p:nvSpPr>
        <p:spPr>
          <a:xfrm>
            <a:off x="4526280" y="416052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行业应用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4" name="TextBox 24"/>
          <p:cNvSpPr txBox="1"/>
          <p:nvPr>
            <p:custDataLst>
              <p:tags r:id="rId30"/>
            </p:custDataLst>
          </p:nvPr>
        </p:nvSpPr>
        <p:spPr>
          <a:xfrm>
            <a:off x="4526280" y="4572000"/>
            <a:ext cx="33832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矿山监测、构筑物健康、林业碳汇、数字城市等</a:t>
            </a:r>
            <a:r>
              <a:rPr sz="1100"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多元应用场景</a:t>
            </a:r>
            <a:endParaRPr sz="1100" b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00" cy="5029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1E3A5F"/>
                </a:solidFill>
                <a:latin typeface="微软雅黑" panose="020B0503020204020204" charset="-122"/>
              </a:rPr>
              <a:t>01</a:t>
            </a:r>
            <a:endParaRPr sz="12000" b="1" i="0">
              <a:solidFill>
                <a:srgbClr val="1E3A5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54864" cy="1371600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6400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4000" b="1" i="0">
                <a:solidFill>
                  <a:srgbClr val="FFFFFF"/>
                </a:solidFill>
                <a:latin typeface="微软雅黑" panose="020B0503020204020204" charset="-122"/>
              </a:rPr>
              <a:t>研究背景</a:t>
            </a:r>
            <a:endParaRPr lang="zh-CN" sz="40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7315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94A3B8"/>
                </a:solidFill>
                <a:latin typeface="微软雅黑" panose="020B0503020204020204" charset="-122"/>
                <a:sym typeface="+mn-ea"/>
              </a:rPr>
              <a:t>对现实世界进行三维数字化是各行业智能化发展的重大需求</a:t>
            </a:r>
            <a:endParaRPr sz="1800" b="0" i="0">
              <a:solidFill>
                <a:srgbClr val="94A3B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808730"/>
            <a:ext cx="1218882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精度丈量时空，智能赋能未来</a:t>
            </a:r>
            <a:r>
              <a:rPr lang="en-US" altLang="zh-CN"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 —— </a:t>
            </a:r>
            <a:r>
              <a:rPr lang="zh-CN" altLang="en-US"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激光雷达，开启时空智能新时代</a:t>
            </a:r>
            <a:r>
              <a:rPr sz="2200" b="1" i="0">
                <a:solidFill>
                  <a:srgbClr val="38BDF8"/>
                </a:solidFill>
                <a:effectLst/>
                <a:latin typeface="微软雅黑" panose="020B0503020204020204" charset="-122"/>
              </a:rPr>
              <a:t>！</a:t>
            </a:r>
            <a:endParaRPr lang="zh-CN" altLang="en-US" sz="2200" b="1" i="0">
              <a:solidFill>
                <a:srgbClr val="38BDF8"/>
              </a:solidFill>
              <a:effectLst/>
              <a:latin typeface="微软雅黑" panose="020B050302020402020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28800" y="2576195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A300"/>
                </a:solidFill>
                <a:latin typeface="微软雅黑" panose="020B0503020204020204" charset="-122"/>
              </a:rPr>
              <a:t>感谢聆听</a:t>
            </a:r>
            <a:endParaRPr sz="4800" b="1" i="0">
              <a:solidFill>
                <a:srgbClr val="FFA3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373880"/>
            <a:ext cx="84124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</a:rPr>
              <a:t>武汉珞珈伊云光电技术有限公司</a:t>
            </a:r>
            <a:endParaRPr sz="1600" b="0" i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0" y="4846320"/>
            <a:ext cx="8412480" cy="36576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41248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300" b="0" i="0">
                <a:solidFill>
                  <a:srgbClr val="E2E8F0"/>
                </a:solidFill>
                <a:latin typeface="微软雅黑" panose="020B0503020204020204" charset="-122"/>
              </a:rPr>
              <a:t>https://luojiayy.com/</a:t>
            </a:r>
            <a:endParaRPr lang="en-US" altLang="zh-CN" sz="1300" b="0" i="0">
              <a:solidFill>
                <a:srgbClr val="E2E8F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3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4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5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6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7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8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9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10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11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12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13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14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15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16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17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18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19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0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1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2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3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4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5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6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7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8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29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ags/tag30.xml><?xml version="1.0" encoding="utf-8"?>
<p:tagLst xmlns:p="http://schemas.openxmlformats.org/presentationml/2006/main">
  <p:tag name="KSO_WM_DIAGRAM_VIRTUALLY_FRAME" val="{&quot;height&quot;:352.8,&quot;left&quot;:36,&quot;top&quot;:93.6,&quot;width&quot;:907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WPS 演示</Application>
  <PresentationFormat>自定义</PresentationFormat>
  <Paragraphs>66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此生幸晓阳明子</cp:lastModifiedBy>
  <cp:revision>25</cp:revision>
  <dcterms:created xsi:type="dcterms:W3CDTF">2013-01-27T09:14:00Z</dcterms:created>
  <dcterms:modified xsi:type="dcterms:W3CDTF">2026-05-22T07:50:18Z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B4EA8BEC22064B94AB0135E3A8C3FDD8_13</vt:lpwstr>
  </property>
</Properties>
</file>