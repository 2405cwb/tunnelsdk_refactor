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98" r:id="rId4"/>
    <p:sldId id="299" r:id="rId5"/>
    <p:sldId id="300" r:id="rId6"/>
    <p:sldId id="301" r:id="rId7"/>
    <p:sldId id="295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68" userDrawn="1">
          <p15:clr>
            <a:srgbClr val="A4A3A4"/>
          </p15:clr>
        </p15:guide>
        <p15:guide id="2" pos="3830" userDrawn="1">
          <p15:clr>
            <a:srgbClr val="A4A3A4"/>
          </p15:clr>
        </p15:guide>
        <p15:guide id="3" orient="horz" pos="3829" userDrawn="1">
          <p15:clr>
            <a:srgbClr val="A4A3A4"/>
          </p15:clr>
        </p15:guide>
        <p15:guide id="4" pos="2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00"/>
    <a:srgbClr val="ABCFD8"/>
    <a:srgbClr val="00BFFF"/>
    <a:srgbClr val="094D6A"/>
    <a:srgbClr val="0C2E42"/>
    <a:srgbClr val="9B5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0816"/>
  </p:normalViewPr>
  <p:slideViewPr>
    <p:cSldViewPr snapToGrid="0" snapToObjects="1" showGuides="1">
      <p:cViewPr varScale="1">
        <p:scale>
          <a:sx n="79" d="100"/>
          <a:sy n="79" d="100"/>
        </p:scale>
        <p:origin x="-739" y="-67"/>
      </p:cViewPr>
      <p:guideLst>
        <p:guide orient="horz" pos="768"/>
        <p:guide orient="horz" pos="3829"/>
        <p:guide pos="3830"/>
        <p:guide pos="210"/>
      </p:guideLst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72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各位领导，各位来宾，大家上午好。今天我们聚焦激光雷达，探讨它在AI时代的技术本质与产业演化。全球激光雷达市场正迎来爆发，预计到2030年将突破万亿人民币。中国乘用车搭载量在2025年将突破324万颗，测绘激光雷达的年复合增长率也高达25.6%。</a:t>
            </a:r>
            <a:r>
              <a:rPr dirty="0" err="1"/>
              <a:t>珞珈伊云正站在这个万亿市场的风口，我们将在接下来的报告中，为您深入剖析三大赛道，并分享我们五大核心观点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ver_pointcloud1.jpg"/>
          <p:cNvPicPr>
            <a:picLocks noChangeAspect="1"/>
          </p:cNvPicPr>
          <p:nvPr/>
        </p:nvPicPr>
        <p:blipFill>
          <a:blip r:embed="rId3">
            <a:lum bright="-6000"/>
          </a:blip>
          <a:srcRect l="22594" r="26842"/>
          <a:stretch>
            <a:fillRect/>
          </a:stretch>
        </p:blipFill>
        <p:spPr>
          <a:xfrm>
            <a:off x="7311390" y="0"/>
            <a:ext cx="4877435" cy="68573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693" y="1636295"/>
            <a:ext cx="7315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600" b="1" i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基于</a:t>
            </a:r>
            <a:r>
              <a:rPr lang="en-US" altLang="zh-CN" sz="4600" b="1" i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AI</a:t>
            </a:r>
            <a:r>
              <a:rPr lang="zh-CN" altLang="en-US" sz="4600" b="1" i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工具提升研发部门</a:t>
            </a:r>
            <a:endParaRPr lang="en-US" altLang="zh-CN" sz="4600" b="1" i="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</a:endParaRPr>
          </a:p>
          <a:p>
            <a:pPr algn="l"/>
            <a:r>
              <a:rPr lang="zh-CN" altLang="en-US" sz="4600" b="1" i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软件开发效率</a:t>
            </a:r>
            <a:endParaRPr lang="zh-CN" altLang="en-US" sz="4600" b="1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 flipV="1">
            <a:off x="685800" y="5130800"/>
            <a:ext cx="6626225" cy="76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18455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300" b="0" i="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武汉汉宁轨道交通技术有限公司</a:t>
            </a:r>
            <a:endParaRPr sz="1300" b="0" i="0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3" name="TextBox 19"/>
          <p:cNvSpPr txBox="1"/>
          <p:nvPr/>
        </p:nvSpPr>
        <p:spPr>
          <a:xfrm>
            <a:off x="685800" y="4723130"/>
            <a:ext cx="54406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0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r>
              <a:rPr lang="zh-CN" sz="1400" b="0" i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李夏亮</a:t>
            </a:r>
            <a:endParaRPr lang="zh-CN" sz="1400" b="0" i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目录 ·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 panose="020B0503020204020204" charset="-122"/>
              </a:rPr>
              <a:t>六大议题全景导览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4572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300"/>
                </a:solidFill>
                <a:latin typeface="微软雅黑" panose="020B0503020204020204" charset="-122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对现实世界进行三维数字化是各行业智能化发展的重大需求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  <a:latin typeface="微软雅黑" panose="020B0503020204020204" charset="-122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技术本质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激光雷达是空间数字化的基础设施</a:t>
            </a:r>
            <a:r>
              <a:rPr 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,</a:t>
            </a:r>
            <a:r>
              <a:rPr lang="zh-CN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，是</a:t>
            </a:r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精准三维感知不可替代的核心工具</a:t>
            </a:r>
            <a:endParaRPr lang="en-US" sz="1100" b="0">
              <a:solidFill>
                <a:srgbClr val="94A3B8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188720"/>
            <a:ext cx="36576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微软雅黑" panose="020B0503020204020204" charset="-122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产业格局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58200" y="2194560"/>
            <a:ext cx="338328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国内外主要厂商全景对比 · 珞珈伊云的战略定位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657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855F7"/>
                </a:solidFill>
                <a:latin typeface="微软雅黑" panose="020B0503020204020204" charset="-122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566160"/>
            <a:ext cx="3657600" cy="45720"/>
          </a:xfrm>
          <a:prstGeom prst="rect">
            <a:avLst/>
          </a:prstGeom>
          <a:solidFill>
            <a:srgbClr val="F47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657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218"/>
                </a:solidFill>
                <a:latin typeface="微软雅黑" panose="020B0503020204020204" charset="-122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关键技术、产品与应用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珞珈伊云已形成高分辨率激光雷达技术框架，核心技术自主可控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2104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6"/>
          <p:cNvSpPr/>
          <p:nvPr/>
        </p:nvSpPr>
        <p:spPr>
          <a:xfrm>
            <a:off x="8321040" y="3566160"/>
            <a:ext cx="36576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7"/>
          <p:cNvSpPr txBox="1"/>
          <p:nvPr/>
        </p:nvSpPr>
        <p:spPr>
          <a:xfrm>
            <a:off x="8458200" y="3657600"/>
            <a:ext cx="6400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0000"/>
                </a:solidFill>
                <a:latin typeface="微软雅黑" panose="020B0503020204020204" charset="-122"/>
              </a:rPr>
              <a:t>0</a:t>
            </a:r>
            <a:r>
              <a:rPr lang="en-US" sz="2800" b="1" i="0">
                <a:solidFill>
                  <a:srgbClr val="FF0000"/>
                </a:solidFill>
                <a:latin typeface="微软雅黑" panose="020B0503020204020204" charset="-122"/>
              </a:rPr>
              <a:t>6</a:t>
            </a:r>
          </a:p>
        </p:txBody>
      </p:sp>
      <p:sp>
        <p:nvSpPr>
          <p:cNvPr id="41" name="TextBox 28"/>
          <p:cNvSpPr txBox="1"/>
          <p:nvPr/>
        </p:nvSpPr>
        <p:spPr>
          <a:xfrm>
            <a:off x="845820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趋势展望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29"/>
          <p:cNvSpPr txBox="1"/>
          <p:nvPr/>
        </p:nvSpPr>
        <p:spPr>
          <a:xfrm>
            <a:off x="845820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低空经济、国防应用、具身智能等多场景融合驱动万亿级市场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43" name="TextBox 23"/>
          <p:cNvSpPr txBox="1"/>
          <p:nvPr/>
        </p:nvSpPr>
        <p:spPr>
          <a:xfrm>
            <a:off x="452628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行业应用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24"/>
          <p:cNvSpPr txBox="1"/>
          <p:nvPr/>
        </p:nvSpPr>
        <p:spPr>
          <a:xfrm>
            <a:off x="452628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矿山监测、构筑物健康、林业碳汇、数字城市等</a:t>
            </a:r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多元应用场景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E3A5F"/>
                </a:solidFill>
                <a:latin typeface="微软雅黑" panose="020B0503020204020204" charset="-122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4000" b="1" i="0" dirty="0" smtClean="0">
                <a:solidFill>
                  <a:srgbClr val="FFFFFF"/>
                </a:solidFill>
                <a:latin typeface="微软雅黑" panose="020B0503020204020204" charset="-122"/>
              </a:rPr>
              <a:t>背景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AI+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结合研发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公司现状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—2P  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张昆宁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李夏亮</a:t>
            </a:r>
            <a:endParaRPr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0</a:t>
            </a:r>
            <a:r>
              <a:rPr lang="en-US"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2</a:t>
            </a:r>
            <a:endParaRPr sz="12000" b="1" i="0" dirty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charset="-122"/>
              </a:rPr>
              <a:t>团队介绍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李夏亮、李扬、程文博、康、张、杨鸽、熊</a:t>
            </a:r>
            <a:endParaRPr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885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0</a:t>
            </a:r>
            <a:r>
              <a:rPr lang="en-US"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3</a:t>
            </a:r>
            <a:endParaRPr sz="12000" b="1" i="0" dirty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charset="-122"/>
              </a:rPr>
              <a:t>案例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开发实例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—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算法（李扬自动识别、康志轩（环片识别、线条转换），减量化指标，每个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1P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 smtClean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资料查询（对比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google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、百度、</a:t>
            </a:r>
            <a:r>
              <a:rPr lang="en-US" altLang="zh-CN" sz="1800" b="0" i="0" dirty="0" err="1" smtClean="0">
                <a:solidFill>
                  <a:srgbClr val="94A3B8"/>
                </a:solidFill>
                <a:latin typeface="微软雅黑" panose="020B0503020204020204" charset="-122"/>
              </a:rPr>
              <a:t>csdn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、</a:t>
            </a:r>
            <a:r>
              <a:rPr lang="en-US" altLang="zh-CN" sz="1800" b="0" i="0" dirty="0" err="1" smtClean="0">
                <a:solidFill>
                  <a:srgbClr val="94A3B8"/>
                </a:solidFill>
                <a:latin typeface="微软雅黑" panose="020B0503020204020204" charset="-122"/>
              </a:rPr>
              <a:t>github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 ----AI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（</a:t>
            </a:r>
            <a:r>
              <a:rPr lang="zh-CN" altLang="en-US" dirty="0">
                <a:solidFill>
                  <a:srgbClr val="94A3B8"/>
                </a:solidFill>
                <a:latin typeface="微软雅黑" panose="020B0503020204020204" charset="-122"/>
              </a:rPr>
              <a:t>李扬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1-2P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新技术预研（二维引擎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三维引擎每个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4-5P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程文博</a:t>
            </a:r>
            <a:r>
              <a:rPr lang="en-US" altLang="zh-CN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张昆宁</a:t>
            </a:r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sz="1800" b="0" i="0" dirty="0" smtClean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项目开发（平台展示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—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后端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前端康志轩程文博 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6-8P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dirty="0" smtClean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其他（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工具开发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+BUG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修改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）（程文博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+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康志轩 </a:t>
            </a:r>
            <a:r>
              <a:rPr lang="en-US" altLang="zh-CN" dirty="0" smtClean="0">
                <a:solidFill>
                  <a:srgbClr val="94A3B8"/>
                </a:solidFill>
                <a:latin typeface="微软雅黑" panose="020B0503020204020204" charset="-122"/>
              </a:rPr>
              <a:t>2P</a:t>
            </a:r>
            <a:r>
              <a:rPr lang="zh-CN" altLang="en-US" dirty="0" smtClean="0">
                <a:solidFill>
                  <a:srgbClr val="94A3B8"/>
                </a:solidFill>
                <a:latin typeface="微软雅黑" panose="020B0503020204020204" charset="-122"/>
              </a:rPr>
              <a:t>）</a:t>
            </a:r>
            <a:endParaRPr lang="en-US" altLang="zh-CN" sz="1800" b="0" i="0" dirty="0" smtClean="0">
              <a:solidFill>
                <a:srgbClr val="94A3B8"/>
              </a:solidFill>
              <a:latin typeface="微软雅黑" panose="020B0503020204020204" charset="-122"/>
            </a:endParaRPr>
          </a:p>
          <a:p>
            <a:pPr algn="l"/>
            <a:endParaRPr lang="en-US" altLang="zh-CN" sz="1800" b="0" i="0" dirty="0" smtClean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830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0</a:t>
            </a:r>
            <a:r>
              <a:rPr lang="en-US" sz="12000" b="1" i="0" dirty="0" smtClean="0">
                <a:solidFill>
                  <a:srgbClr val="1E3A5F"/>
                </a:solidFill>
                <a:latin typeface="微软雅黑" panose="020B0503020204020204" charset="-122"/>
              </a:rPr>
              <a:t>4</a:t>
            </a:r>
            <a:endParaRPr sz="12000" b="1" i="0" dirty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i="0" dirty="0" smtClean="0">
                <a:solidFill>
                  <a:srgbClr val="FFFFFF"/>
                </a:solidFill>
                <a:latin typeface="微软雅黑" panose="020B0503020204020204" charset="-122"/>
              </a:rPr>
              <a:t>总结、展望</a:t>
            </a:r>
            <a:endParaRPr lang="zh-CN" sz="4000" b="1" i="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0" i="0" dirty="0" smtClean="0">
                <a:solidFill>
                  <a:srgbClr val="94A3B8"/>
                </a:solidFill>
                <a:latin typeface="微软雅黑" panose="020B0503020204020204" charset="-122"/>
              </a:rPr>
              <a:t>李夏亮</a:t>
            </a:r>
            <a:endParaRPr sz="1800" b="0" i="0" dirty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21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808730"/>
            <a:ext cx="1218882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精度丈量时空，智能赋能未来</a:t>
            </a:r>
            <a:r>
              <a:rPr lang="en-US" altLang="zh-CN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 —— </a:t>
            </a:r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激光雷达，开启时空智能新时代</a:t>
            </a:r>
            <a:r>
              <a:rPr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！</a:t>
            </a:r>
            <a:endParaRPr lang="zh-CN" altLang="en-US" sz="2200" b="1" i="0">
              <a:solidFill>
                <a:srgbClr val="38BDF8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8800" y="2576195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A300"/>
                </a:solidFill>
                <a:latin typeface="微软雅黑" panose="020B0503020204020204" charset="-122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73880"/>
            <a:ext cx="84124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武汉珞珈伊云光电技术有限公司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846320"/>
            <a:ext cx="8412480" cy="36576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4124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00" b="0" i="0">
                <a:solidFill>
                  <a:srgbClr val="E2E8F0"/>
                </a:solidFill>
                <a:latin typeface="微软雅黑" panose="020B0503020204020204" charset="-122"/>
              </a:rPr>
              <a:t>https://luojiayy.com/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336</Words>
  <Application>Microsoft Office PowerPoint</Application>
  <PresentationFormat>自定义</PresentationFormat>
  <Paragraphs>49</Paragraphs>
  <Slides>7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lixialiang</cp:lastModifiedBy>
  <cp:revision>40</cp:revision>
  <dcterms:created xsi:type="dcterms:W3CDTF">2013-01-27T09:14:00Z</dcterms:created>
  <dcterms:modified xsi:type="dcterms:W3CDTF">2026-05-22T08:33:09Z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53BF03A0FE9E4A7DBB17C0D1E77A8E2A_13</vt:lpwstr>
  </property>
</Properties>
</file>